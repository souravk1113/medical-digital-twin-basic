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64008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Calibri"/>
              </a:rPr>
              <a:t>A Digital Twin for Geographic Atrophy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55B66"/>
                </a:solidFill>
                <a:latin typeface="Calibri"/>
              </a:rPr>
              <a:t>From classical medical twins to foundation-model + LLM-augmented twins, and a concrete proof-of-concept proposal in ophthalmology.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Sourav K  ·  2026-04-27  ·  internal review draft</a:t>
            </a:r>
          </a:p>
        </p:txBody>
      </p:sp>
      <p:sp>
        <p:nvSpPr>
          <p:cNvPr id="7" name="Oval 6"/>
          <p:cNvSpPr/>
          <p:nvPr/>
        </p:nvSpPr>
        <p:spPr>
          <a:xfrm>
            <a:off x="10424160" y="5989320"/>
            <a:ext cx="164592" cy="164592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35640" y="5989320"/>
            <a:ext cx="164592" cy="164592"/>
          </a:xfrm>
          <a:prstGeom prst="ellipse">
            <a:avLst/>
          </a:prstGeom>
          <a:solidFill>
            <a:srgbClr val="2E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0" y="5989320"/>
            <a:ext cx="164592" cy="16459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Medical digital twins have moved beyond bespoke ODE models into a foundation-model + LLM-orchestrated era.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Geographic Atrophy (GA), an advanced dry-AMD disease, is an unusually good fit for a twin: quantitative imaging endpoint, slow progression, partly known mechanism, two new drugs with modest effect sizes.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We propose a tractable v0 PoC: a sqrt-area growth-law twin with ML personalization, a Streamlit dashboard, and an in-silico trial module — buildable on simulated cohorts calibrated to published distributions, no credentialed data needed.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Roadmap escalates to AREDS2 (dbGaP), RETFound embeddings, and an LLM orchestrator.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GA's quantitative FAF endpoint, slow trial timelines, and two FDA-approved drugs with partial effect make it the ophthalmology twin worth building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1.  Digital twins — recap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2.  Modern paradigms: foundation models, neural ODEs, generative twins, LLM orchestration, in-silico trials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3.  Geographic Atrophy primer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4.  Why a GA twin?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5.  Prior art in ophthalmology AI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6.  Proposed architecture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7.  Proof-of-concept: scope, data, methodology, validation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8.  Roadmap, risks,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Digital twins —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Where the field came from and what the three layers 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a digital twin?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 virtual representation of a real-world entity that is continuously updated by data from its physical counterpart and supports simulation, prediction and decision-making in a closed feedback loop.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Origins: Grieves (2002, PLM) → NASA (2010, aerospace) → medicine from ~2018 onward.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Three components every twin has: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Object — patient / organ / cell / population — represented by mathematical and ML models.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State — vitals, labs, images, history — a time-evolving state vector x(t).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Behavior — physiology and disease progression — simulated by ODE / agent / ML / hybrid models.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Distinction from a regular predictive model: a twin is persistent, individualized, and updatable — a risk score collapses a patient to one number; a twin is a queryable, simulatable representation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Classical medical twins (pre-2022)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Examples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Cardiac: Dassault Living Heart, Siemens CRT response twin, HeartFlow CFD on coronary CT.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Endocrinology: UVa/Padova T1D simulator (FDA-recognized in-silico testing for closed-loop pumps); Twin Health metabolic twin for T2D reversal (RCT).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Oncology: image-guided reaction-diffusion tumor twins (Yankeelov; Swanson).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ICU: sepsis policy twins on MIMIC; ARDS ventilator twins.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9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What they have in common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Mechanistic core (ODE / PDE / FEM) encoding known physiology.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Per-patient calibration of a small number of parameters.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Heavy domain expertise per project — not portable.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Limited multimodal input — usually one or two data streams.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Validation via held-out data and prospective clinical studies.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Modern paradigms (2022 →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Foundation models, neural ODEs, generative twins, LLM-orchestrated stacks, in-silico trials.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02 · MODERN ·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Foundation models as the perception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Self-supervised pre-training on massive medical-data corpora collapses the 'feature engineering' step.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RETFound (Zhou et al., Nature 2023) — masked-autoencoder ViT, ~1.6 M retinal images (CFP + OCT), open weights. State-of-the-art on AMD progression. [1]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Med-PaLM 2 (Singhal et al. 2023) — clinical-question LLM. [2]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Generalist Medical AI (Moor et al., Nature 2023) — multimodal foundation model for clinical reasoning. [3]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MedGemma (Google 2024) — open multimodal medical foundation model. [4]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AMIE (Tu et al. 2024) — Google diagnostic-dialogue agent. [5]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Twin builders increasingly inherit the perception layer for free; the value-add moves to mechanism, simulation, and the closed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02 · MODERN · HYBRID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Neural ODEs and physics-informed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Hybrid mechanistic + ML models close the data-efficiency gap of pure deep nets.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Neural ODEs (Chen et al., NeurIPS 2018) — continuous-time hidden state, ideal for irregularly-sampled clinical time series. [6]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Physics-informed neural networks — penalize violations of known PDEs in the loss; useful when mechanism is partly understood. [7]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Universal differential equations — keep the mechanistic skeleton, learn the residual with an NN. [8]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For GA this maps cleanly to: mechanism = sqrt-area growth law (Yehoshua, Feuer); residual = patient-specific deviations learned from imaging.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Practical effect: 5–50× less data than a pure deep net for the same forecast quality, plus extrapolation guarantees from the mechanistic 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02 · MODERN · GENERATIVE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Generative twins and synthetic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Diffusion models for medical imaging (Kazerouni et al. 2023) — counterfactual images: 'what would this fundus look like in 24 months under treatment?' [9]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Tabular synthesis (CTGAN / TVAE / tabular diffusion) — privacy-preserving cohorts; basis for synthetic control arms. [10]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Generative EHR time-series (Theodorou et al., npj Digital Medicine 2023) — long synthetic patient histories that respect dependencies. [11]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Important caveat: generative output can leak training data and under-represent rare phenotypes; mitigation = privacy testing, rare-class oversampling, expert review.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For a GA twin: useful for visualizing projected lesions to clinicians and patients; decisions still drive off the mechanistic + ML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02 · MODERN ·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LLM-orchestrated twins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Pattern emerging in 2024–2026 deployments: the LLM does NOT predict; it routes the clinician's natural-language question to a validated mechanistic / ML twin and explains the result.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Architecture: clinician → LLM orchestrator (tool-using, retrieval-augmented) → calls into mechanistic twin and a knowledge base (FHIR / OMOP / guideline corpus) → answers in natural language with citations.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Why this shape: keeps the clinical decision auditable (mechanistic core is the decision-maker), while letting the LLM handle the open-vocabulary clinician query.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Aligns with FDA AI/ML SaMD action plan and EMA reflection paper (2024) — separation of reasoning surface from decision surface. [12]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Downside: prompt-injection, hallucinated tool calls, and citation drift remain real; need eval harnesses and red-teaming before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02 · MODERN · REGULATORY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In-silico trials &amp; synthetic control 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FDA's MIDD program accepts mechanistic models in submissions for dose justification and label extension. [13]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External / synthetic control arms accepted in oncology (FlatironHealth) and devices; increasingly proposed for rare-disease and slow-progressing indications. [14]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Twin populations (Unlearn.AI) — generate digital twins of every control patient to reduce trial sample size by ~30%. EMA-reviewed for use in some Phase 2/3 trials, including Alzheimer's. [15]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GA trials run 12–24 months and recruit slowly → enormous incentive to augment control arms.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GA is one of the most attractive indications for twin-augmented control arms — slow, quantitative, with a structural endpoint.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Geographic Atrophy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What it is, how we measure it, what we treat it with, what's missing.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03 · GA ·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Geographic Atrophy?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The advanced, late-stage form of dry age-related macular degeneration (AMD).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Progressive, irreversible degeneration of the retinal pigment epithelium (RPE), choriocapillaris and overlying photoreceptors.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Affects ~5 million people worldwide; a leading cause of irreversible central-vision loss in adults &gt; 50. [16]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Bilateral in most patients eventually; vision loss usually starts paracentrally and encroaches on the fovea.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Pathophysiology: complement-mediated chronic inflammation + oxidative stress + lipofuscin accumulation → RPE death → photoreceptor loss. Genetics matters: CFH, ARMS2/HTRA1, C3.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03 · GA ·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we measure 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Imaging biomarkers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Fundus autofluorescence (FAF) — gold standard; lesions hypo-autofluorescent.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Spectral-domain OCT — RPE atrophy, photoreceptor (EZ) loss, drusen volume, hyperreflective foci, reticular pseudodrusen.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Color fundus photography — historical baseline.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Microperimetry — point-wise retinal sensitivity.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9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Quantitative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Lesion area in mm² — primary trial endpoint.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Square-root transform (sqrt mm²/yr) linearizes growth across baseline sizes (Feuer 2013). [18]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Mean growth ~0.3 mm·yr⁻¹ in sqrt space; range 0.1 → 0.5 by phenotype/genetics. [19]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Function: BCVA poor; low-luminance VA &amp; reading speed more sensitive.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Perilesional FAF pattern (none/focal/banded/diffuse/patchy) prognoses growth (Holz FAM). [17]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03 · GA ·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Approved drugs for GA (as of 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1554480"/>
                <a:gridCol w="310896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Drug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Trials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Effect on growth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Pegcetacoplan (Syfovre)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OAKS, DERBY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~14–22% reduction over 24 mo (sqrt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Apellis · monthly or bimonthly intravitreal · CNV conversion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Avacincaptad pegol (Izervay)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GATHER1, GATHER2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~14–18% reduction over 12 mo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Astellas/Iveric · monthly intravitreal · ocular inflammation rare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Both inhibit the complement cascade. Both slow but do not stop atrophy. Neither shows functional vision improvement in pivotal trials. Refs [22], [23].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03 · GA · UNMET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the field is stuck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Structure-function disconnect: drugs slow lesion growth but do not improve vision in trials.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Slow trials: 12–24 months × thousands of patients × monthly injections — costly and burdensome.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Heterogeneous progression: same baseline area, very different 12-mo outcomes.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Inadequate individualization: clinicians treat by lesion phenotype, not by patient-specific growth model.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Limited synthetic-control precedent in ophthalmology vs oncology.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All four problems map directly onto things a digital twin is good at — predicting heterogeneity, simulating interventions, and supplying virtual control arms.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Why a GA twin?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The clinical questions and the structural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04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Clinical questions a GA twin can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Personalized prognosis — at this baseline, what's the expected lesion area at 12, 24, 36 months, with uncertainty?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Treatment scheduling — when is it worth starting therapy? Monthly or bimonthly? When can we stop?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Risk-stratified enrichment — which patients should be enrolled in a fast-progressor trial cohort?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Counterfactual reasoning — what would this patient look like at 24 mo without therapy?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Trial design — virtual sample-size calculations under realistic patient heterogeneity and dropout.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Synthetic control augmentation — supply twin-based controls to shrink the real control arm.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Patient communication — show projected fundus/lesion + functional impact under treatment vs no treatment.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04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GA fits a twin unusually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Quantitative, validated structural endpoint (FAF lesion area).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Mechanism partly known (complement-mediated RPE death) → enables hybrid mechanistic + ML twins, not pure black-box.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Slow progression and 12–24 mo trial timelines make synthetic-control augmentation valuable.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Strong genetics (CFH, ARMS2, C3) for personalization priors.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Two FDA-approved drugs with modest, quantified effect sizes — the twin has clear intervention literature to calibrate against.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Existing retinal foundation model (RETFound) provides imaging perception layer for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Of all ophthalmology indications, GA is the strongest candidate to demonstrate a clinically and regulatorily useful patient digital twin.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Prior art in ophthalmology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Imaging progression models, retinal foundation models, in-silico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05 · PRIOR ART · IMAGING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Imaging-based GA progression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Pfau M, Schmidt-Erfurth U et al. (Bonn / Vienna) — deep learning on FAF predicts 12-month GA growth, beats linear sqrt models; identifies perilesional features as drivers. [24]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Niu S et al. — deep learning on OCT predicts AMD/GA conversion. [25]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Schmidt-Erfurth U lab — automated AI quantification of OCT biomarkers (drusen, RPE atrophy, EZ integrity, hyperreflective foci) with prognostic value. [26]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Liefers B et al. (Nijmegen / Moorfields) — deep segmentation of GA on FAF and OCT, replacing reading-center grading. [27]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Yehoshua Z et al. — long-running natural-history series on FAF growth. [28]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Common limitation: published work is pure ML prediction — no intervention simulator, no closed-loop twin.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05 · PRIOR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Foundation models &amp; twin precedents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Retinal foundation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RETFound (Zhou et al., Nature 2023) — open-weight ViT pretrained on ~1.6 M retinal images. State-of-the-art on AMD progression and several systemic-disease tasks. [1]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Closed commercial counterparts: EyeFM, EyeBERT, RetinAI's pipeline.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Self-supervised pretraining on UK Biobank retina shows representations carry information about systemic disease.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9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In-silico / twin work touching ophthalmology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Unlearn.AI ophthalmology pilots — twin-based control augmentation in dry AMD (announced; trial-stage). [15]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Mechanistic models of RPE death — reaction-diffusion equations for lesion expansion (Shen, Friedman). [29]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Population-level disease-progression models for AMD using NLMEM (Roche / Genentech) for trial design. [30]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05 · PRIOR ART ·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Visible gaps the proposed twin fills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 published patient-level twin combining imaging-derived state with a mechanistic growth model AND an intervention simulator.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 widely-deployed clinician-facing what-if tool for GA.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Limited synthetic-control-arm precedent for GA specifically.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Open question: does treatment effect generalize across phenotypes (focality, perilesional pattern, genetics)? A twin lets you simulate this.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 open, sharable PoC the community can iterate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There is room for a small, well-validated, OPEN PoC twin — and the gap is precisely the patient-level simulation + intervention layer.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Proposed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Five layers, open foundation, hybrid mechanistic + ML 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Reference architecture for the GA twin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011680" cy="2286000"/>
          </a:xfrm>
          <a:prstGeom prst="rect">
            <a:avLst/>
          </a:prstGeom>
          <a:solidFill>
            <a:srgbClr val="E9F0F6"/>
          </a:solidFill>
          <a:ln w="9525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011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  <a:latin typeface="Calibri"/>
              </a:rPr>
              <a:t>PHYSICAL
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011680" cy="1463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FAF, OCT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BCVA, LL-VA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Genetics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Demographics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80160"/>
            <a:ext cx="859536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71600"/>
            <a:ext cx="19202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1 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371600"/>
            <a:ext cx="6400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FAF · OCT · EHR · genetics → FHIR / OMOP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859536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377440"/>
            <a:ext cx="19202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2 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77440"/>
            <a:ext cx="6400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Lesion area, focality, FAF pattern, BCVA,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291840"/>
            <a:ext cx="859536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383280"/>
            <a:ext cx="19202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3 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383280"/>
            <a:ext cx="6400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sqrt growth law + ML residual + LLM orchestrator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4297680"/>
            <a:ext cx="859536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389120"/>
            <a:ext cx="19202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4 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What-if drugs · counterfactuals · in-silico trials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303520"/>
            <a:ext cx="8595360" cy="960120"/>
          </a:xfrm>
          <a:prstGeom prst="rect">
            <a:avLst/>
          </a:prstGeom>
          <a:solidFill>
            <a:srgbClr val="E9F0F6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5394960"/>
            <a:ext cx="19202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5  DECISION/UI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394960"/>
            <a:ext cx="6400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Clinician dashboard · trial-design panel · alerts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2743200"/>
            <a:ext cx="548640" cy="0"/>
          </a:xfrm>
          <a:prstGeom prst="line">
            <a:avLst/>
          </a:prstGeom>
          <a:ln w="31750">
            <a:solidFill>
              <a:srgbClr val="1B6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60320" y="5669280"/>
            <a:ext cx="548640" cy="0"/>
          </a:xfrm>
          <a:prstGeom prst="line">
            <a:avLst/>
          </a:prstGeom>
          <a:ln w="25400">
            <a:solidFill>
              <a:srgbClr val="2E8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85216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100" b="0">
                <a:solidFill>
                  <a:srgbClr val="555B66"/>
                </a:solidFill>
                <a:latin typeface="Calibri"/>
              </a:rPr>
              <a:t>data flows up · decisions flow down — the closed loop is what makes it a TWIN, not a model.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06 · ARCHITECTURE ·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Mechanistic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Growth law in sqrt-area space:  √A(t) = √A(0) + k_i · t  (Feuer 2013). [18]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Per-patient growth coefficient k_i drawn from a log-normal prior parameterized by: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baseline area A(0)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focality (uni- vs multifocal)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perilesional FAF pattern (none / focal / banded / diffuse / patchy) — banded &amp; diffuse are fastest [17]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–  genetics (CFH, ARMS2 risk alleles), age, sex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Drug effect: multiplicative reduction on k_i (~0.18 pegcetacoplan, ~0.16 avacincaptad over 24 mo) [22][23], with patient heterogeneity.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Optional reaction-diffusion extension for spatial lesion shape (Shen/Friedman). [29]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06 · ARCHITECTURE · ML &amp;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ML personalization layer + LLM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ML personalization: gradient-boosted regressor (or small CNN on FAF/OCT) maps baseline features → posterior over k_i. Calibrated via isotonic / Platt.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Optional: replace the imaging head with RETFound embeddings + a light task head — buys data efficiency for free. [1]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Uncertainty: Bayesian hierarchical model OR ensemble + conformal prediction — produce 95% CIs on projected area at any horizon.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LLM orchestrator (clinician surface): tool-using LLM calls into the twin and a knowledge base (FHIR + GA guideline corpus); never decides on its own. Aligned with FDA SaMD and EMA reflection paper. [12]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Audit log: every clinician question, twin call, and answer is recorded for QA and for regulatory submission.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What gets built first — scope, data, methodology, validation, use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PoC v0 —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Patient-level GA twin with sqrt-area growth law and ML personalization — one disease, one endpoint, one drug class.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Streamlit dashboard mirroring the cardiovascular twin already in this repo.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In-silico mini-trial module — simulate N virtual patients, randomize, estimate power for detecting a given drug effect at 12/24 mo.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Built on a synthetic cohort calibrated to PUBLISHED distributions (no credentialed data needed for v0).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Roadmap escalates to AREDS2 (dbGaP), RETFound embeddings, LLM orchestrator.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Tractable in weeks. Defensible without credentialed data. Extensible to a real-data v1.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plan — five tiers, accessible to credentialed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365760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What you get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  Synthetic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Simulated cohort from published distributions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Tabular longitudinal GA areas + covariates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Immediate, no DUC — best for v0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  Public summary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OAKS/DERBY, GATHER1/2, AREDS2 publications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Calibration anchors (means, variance, drug effect)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Free, manual extraction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  Open imaging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STARE, EyePACS, Kaggle AMD; RETFound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Cross-sectional retinal images + foundation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  Controlled access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AREDS / AREDS2 via NEI dbGaP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Real longitudinal AMD/GA cohort (~4500 pts, up to 12 yr)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dbGaP DUC, ~weeks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  Clinical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Health-system FAF/OCT under IRB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Site-specific real twins, prospective forecasts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IRB-dependent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v0 sits at tiers 0+1. v1 escalates to tier 3. Tier 4 is pilot-deployment territory.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Required virtual-patient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Demographics — age, sex.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Baseline imaging-derived — GA area (mm² and √mm²), focality (uni/multi), perilesional FAF pattern (none/focal/banded/diffuse/patchy), reticular pseudodrusen present/absent.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Optional genetics — CFH risk allele, ARMS2/HTRA1 risk allele.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Functional — BCVA, low-luminance VA, optionally reading speed.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Longitudinal observations — per-visit GA area at 0, 6, 12, 18, 24 months (configurable).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Treatment record — drug, dose, schedule, adherence.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Outcome derived during simulation — projected lesion area trajectory + uncertainty band; functional projection (optional).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Methodology — eight steps for v0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1. Calibrate growth-rate distribution to literature: log-normal k_i with mean and variance by perilesional pattern, focality, baseline area.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2. Sample a virtual cohort (e.g., 500 patients) with covariate distributions matching AREDS2 summaries.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3. Simulate per-patient trajectories in sqrt space with measurement noise.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4. Train a tabular ML model (gradient-boosted trees) on the synthetic cohort to recover k_i from baseline covariates; report calibration.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5. Wrap in twin/ modules mirroring the cardiovascular twin (Patient, LesionGrowthModel, RiskModel, Simulator).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6. Streamlit dashboard: patient picker, baseline state, projected lesion area at 12/24 mo with 95% bands, drug toggle, in-silico-trial tab.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7. Sanity checks: growth-rate distribution recovery; simulated OAKS-like trial recovers the published effect at trial 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8. Document limitations clearly in UI and README; lock the v0 release.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Validation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v0 (synthetic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Distribution-recovery test: ML model recovers planted k_i distribution within tolerance.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Trial-recovery test: simulated OAKS-like trial recovers published ~18% effect at trial N=600.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Calibration plot for predicted area at 12 / 24 mo (pp-plot).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Sensitivity analyses on prior parameters and noise levels.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18288" cy="5120640"/>
          </a:xfrm>
          <a:prstGeom prst="rect">
            <a:avLst/>
          </a:prstGeom>
          <a:solidFill>
            <a:srgbClr val="E9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v1 (with credentialed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577840" cy="4754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Internal: held-out AREDS2 patients; RMSE on 12/24 mo lesion area.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External: a different cohort if available (Holekamp Proxima).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Calibration: predicted vs observed area distribution.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Drug-effect sanity: estimated effect should fall in OAKS/GATHER range.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Bias audit: performance by baseline area decile, sex, age, ancestry.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Prospective forecasting study at a clinical site (pilot).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07 · POC ·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Use cases the twin enables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Treatment scheduling — decide start, switch, intensify, hold, stop, given expected residual benefit.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Trial design — virtual sample-size calculations under heterogeneity and dropout; enrichment for fast progressors.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Synthetic control augmentation — supply twin-based controls for external-control-arm submissions (with regulator pre-alignment).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Counterfactual reasoning — 'what would this patient look like at 24 mo without therapy?' as a decision aid.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Patient communication — visualize projected fundus and functional impact under treatment vs no treatment.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Drug-development hypothesis testing — what effect size on growth rate is needed for a meaningful functional endpoint?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Education — train residents and trial investigators on lesion-progression intuition.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0" b="1">
                <a:solidFill>
                  <a:srgbClr val="1B6CA8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Roadmap, risks,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9F0F6"/>
                </a:solidFill>
                <a:latin typeface="Calibri"/>
              </a:rPr>
              <a:t>What ships when, what could break it, who said what.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137160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08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8686800"/>
              </a:tblGrid>
              <a:tr h="49638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96388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1–2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v0 simulated GA twin + Streamlit dashboard (this PoC)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+1 month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RETFound embeddings on a public retinal image set; couple to growth-rate prior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96388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Apply for AREDS2 dbGaP, ingest, recalibrate, validate (v1)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+3 months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In-silico-trial module + LLM orchestrator with eval harness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  <a:tr h="496388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Pilot with a clinical site — IRB, prospective forecasting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+9 months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Pre-submission meeting with FDA / EMA on synthetic-control-arm use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08 ·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Risks, ethics, regulatory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Synthetic data ≠ real data — v0 conclusions must never be used clinically; clearly labeled in UI and README.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Bias — AREDS2 is European-ancestry-skewed; growth models may not generalize across ancestry; bias audit mandatory.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Regulatory — clinical-decision use is SaMD; in-silico-trial use falls under MIDD; engage FDA/EMA early.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Privacy — AREDS2/dbGaP carries strong DUC obligations; clinical data needs IRB and deidentification; OMOP/FHIR ingestion at the boundary.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LLM-orchestrator risks — prompt injection, hallucinated tool calls, citation drift; eval harness and red-team before deployment.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Generative components can leak training data and under-represent rare phenotypes; privacy testing + rare-class oversampling.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Ship a clearly-labeled teaching PoC first. Build credibility with validation. Engage regulators before any clinical claim.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08 · REFERENCES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References — modern DT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[1] Zhou Y et al. A foundation model for generalizable disease detection from retinal images. Nature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[2] Singhal K et al. Towards Expert-Level Medical Question Answering with Med-PaLM 2. arXiv 2305.09617 / Nature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[3] Moor M et al. Foundation models for generalist medical AI. Nature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[4] Google. MedGemma technical report. 2024.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[5] Tu T et al. Towards Conversational Diagnostic AI (AMIE). DeepMind, 2024.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[6] Chen RTQ et al. Neural Ordinary Differential Equations. NeurIPS 2018.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[7] Raissi M, Perdikaris P, Karniadakis GE. Physics-informed neural networks. JCP 2019.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[8] Rackauckas C et al. Universal Differential Equations. 2020.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[9] Kazerouni A et al. Diffusion models in medical imaging — survey. MIA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[10] Xu L et al. CTGAN. NeurIPS 2019; Borisov V et al. Tabular generative models survey.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[11] Theodorou B et al. Synthesize EHR with generative AI. npj Digital Medicine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[12] FDA AI/ML SaMD Action Plan 2021; EMA reflection paper on AI in medicines lifecycle 2024.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[13] FDA Model-Informed Drug Development (MIDD) Pilot Program.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[14] Thorlund K et al. Synthetic and external controls. Clin Epidemiol 2020.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[15] Unlearn.AI — TwinRCT / Procova.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08 · REFERENCES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References — GA &amp; ophthalmology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[16] Wong WL et al. Global prevalence of AMD. Lancet Glob Health 2014.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[17] Holz FG et al. FAM Study — perilesional FAF patterns and GA progression. Am J Ophthalmol 2007.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[18] Feuer WJ et al. Square-root transformation of GA area. Ophthalmology 2013.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[19] Yehoshua Z et al. Natural history of GA in AMD. Ophthalmology 2011.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[20] Chew EY et al. AREDS2: A randomized clinical trial. JAMA 2013.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[21] Holekamp NM et al. PROXIMA A and B natural history of GA. Ophthalmol Retina 2020.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[22] Heier JS et al. Pegcetacoplan for GA — OAKS and DERBY. Lancet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[23] Khanani AM et al. Avacincaptad pegol for GA — GATHER2. Lancet 2023.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[24] Pfau M et al. Deep learning predicts GA progression on FAF. IOVS / Ophthalmology 2020–2022.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[25] Niu S et al. Deep learning prediction of progression to AMD from OCT. Ophthalmol Sci 2020.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[26] Schmidt-Erfurth U et al. AI in retina. Prog Retin Eye Res 2018–2024.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[27] Liefers B et al. Deep segmentation of GA on FAF/OCT. Ophthalmology / TVST 2020.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[28] Yehoshua Z et al. FAF imaging in GA — natural history series. AJO / Retina.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[29] Shen JK et al. Mathematical modeling of RPE death and lesion expansion.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[30] Roche / Genentech population PK/PD reports for AMD trial design.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Closing &amp;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Modern medical twins = foundation-model perception + hybrid mechanistic/ML simulation + LLM orchestration + closed clinical loop.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GA is the right ophthalmology beachhead — quantitative endpoint, slow trials, two new drugs with measurable effects, mechanistic intuition.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v0 PoC is buildable on synthetic data calibrated to literature; v1 is a 2-month escalation to AREDS2.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Roadmap: PoC → AREDS2 → in-silico trials → clinical pilot → regulator pre-submission.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What's the strongest objection? What clinical partner do we want to engage first?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17320"/>
            <a:ext cx="4114800" cy="4114800"/>
          </a:xfrm>
          <a:prstGeom prst="rect">
            <a:avLst/>
          </a:prstGeom>
          <a:solidFill>
            <a:srgbClr val="F5F8FB"/>
          </a:solidFill>
          <a:ln w="9525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1">
                <a:solidFill>
                  <a:srgbClr val="2E8BC4"/>
                </a:solidFill>
                <a:latin typeface="Calibri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Calibri"/>
              </a:rPr>
              <a:t>Open questions for review: choice of clinical partner, dbGaP timing, scope of v0 vs v1, regulator engagement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